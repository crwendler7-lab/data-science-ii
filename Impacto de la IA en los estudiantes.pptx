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4" r:id="rId10"/>
    <p:sldId id="265" r:id="rId11"/>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AR"/>
          </a:p>
        </p:txBody>
      </p:sp>
      <p:sp>
        <p:nvSpPr>
          <p:cNvPr id="4" name="Marcador de fecha 3"/>
          <p:cNvSpPr>
            <a:spLocks noGrp="1"/>
          </p:cNvSpPr>
          <p:nvPr>
            <p:ph type="dt" sz="half" idx="10"/>
          </p:nvPr>
        </p:nvSpPr>
        <p:spPr/>
        <p:txBody>
          <a:bodyPr/>
          <a:lstStyle/>
          <a:p>
            <a:fld id="{BEB07DE1-C2A3-4F6F-B12B-997EDF4208CD}" type="datetimeFigureOut">
              <a:rPr lang="es-AR" smtClean="0"/>
              <a:t>20/05/2026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50785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BEB07DE1-C2A3-4F6F-B12B-997EDF4208CD}" type="datetimeFigureOut">
              <a:rPr lang="es-AR" smtClean="0"/>
              <a:t>20/05/2026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2166261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BEB07DE1-C2A3-4F6F-B12B-997EDF4208CD}" type="datetimeFigureOut">
              <a:rPr lang="es-AR" smtClean="0"/>
              <a:t>20/05/2026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2653709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Marcador de fecha 4"/>
          <p:cNvSpPr>
            <a:spLocks noGrp="1"/>
          </p:cNvSpPr>
          <p:nvPr>
            <p:ph type="dt" sz="half" idx="10"/>
          </p:nvPr>
        </p:nvSpPr>
        <p:spPr/>
        <p:txBody>
          <a:bodyPr/>
          <a:lstStyle/>
          <a:p>
            <a:fld id="{BEB07DE1-C2A3-4F6F-B12B-997EDF4208CD}" type="datetimeFigureOut">
              <a:rPr lang="es-AR" smtClean="0"/>
              <a:t>20/05/2026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593119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Marcador de fecha 6"/>
          <p:cNvSpPr>
            <a:spLocks noGrp="1"/>
          </p:cNvSpPr>
          <p:nvPr>
            <p:ph type="dt" sz="half" idx="10"/>
          </p:nvPr>
        </p:nvSpPr>
        <p:spPr/>
        <p:txBody>
          <a:bodyPr/>
          <a:lstStyle/>
          <a:p>
            <a:fld id="{BEB07DE1-C2A3-4F6F-B12B-997EDF4208CD}" type="datetimeFigureOut">
              <a:rPr lang="es-AR" smtClean="0"/>
              <a:t>20/05/2026</a:t>
            </a:fld>
            <a:endParaRPr lang="es-AR"/>
          </a:p>
        </p:txBody>
      </p:sp>
      <p:sp>
        <p:nvSpPr>
          <p:cNvPr id="8" name="Marcador de pie de página 7"/>
          <p:cNvSpPr>
            <a:spLocks noGrp="1"/>
          </p:cNvSpPr>
          <p:nvPr>
            <p:ph type="ftr" sz="quarter" idx="11"/>
          </p:nvPr>
        </p:nvSpPr>
        <p:spPr/>
        <p:txBody>
          <a:bodyPr/>
          <a:lstStyle/>
          <a:p>
            <a:endParaRPr lang="es-AR"/>
          </a:p>
        </p:txBody>
      </p:sp>
      <p:sp>
        <p:nvSpPr>
          <p:cNvPr id="9" name="Marcador de número de diapositiva 8"/>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2953676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fecha 2"/>
          <p:cNvSpPr>
            <a:spLocks noGrp="1"/>
          </p:cNvSpPr>
          <p:nvPr>
            <p:ph type="dt" sz="half" idx="10"/>
          </p:nvPr>
        </p:nvSpPr>
        <p:spPr/>
        <p:txBody>
          <a:bodyPr/>
          <a:lstStyle/>
          <a:p>
            <a:fld id="{BEB07DE1-C2A3-4F6F-B12B-997EDF4208CD}" type="datetimeFigureOut">
              <a:rPr lang="es-AR" smtClean="0"/>
              <a:t>20/05/2026</a:t>
            </a:fld>
            <a:endParaRPr lang="es-AR"/>
          </a:p>
        </p:txBody>
      </p:sp>
      <p:sp>
        <p:nvSpPr>
          <p:cNvPr id="4" name="Marcador de pie de página 3"/>
          <p:cNvSpPr>
            <a:spLocks noGrp="1"/>
          </p:cNvSpPr>
          <p:nvPr>
            <p:ph type="ftr" sz="quarter" idx="11"/>
          </p:nvPr>
        </p:nvSpPr>
        <p:spPr/>
        <p:txBody>
          <a:bodyPr/>
          <a:lstStyle/>
          <a:p>
            <a:endParaRPr lang="es-AR"/>
          </a:p>
        </p:txBody>
      </p:sp>
      <p:sp>
        <p:nvSpPr>
          <p:cNvPr id="5" name="Marcador de número de diapositiva 4"/>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3522497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BEB07DE1-C2A3-4F6F-B12B-997EDF4208CD}" type="datetimeFigureOut">
              <a:rPr lang="es-AR" smtClean="0"/>
              <a:t>20/05/2026</a:t>
            </a:fld>
            <a:endParaRPr lang="es-AR"/>
          </a:p>
        </p:txBody>
      </p:sp>
      <p:sp>
        <p:nvSpPr>
          <p:cNvPr id="3" name="Marcador de pie de página 2"/>
          <p:cNvSpPr>
            <a:spLocks noGrp="1"/>
          </p:cNvSpPr>
          <p:nvPr>
            <p:ph type="ftr" sz="quarter" idx="11"/>
          </p:nvPr>
        </p:nvSpPr>
        <p:spPr/>
        <p:txBody>
          <a:bodyPr/>
          <a:lstStyle/>
          <a:p>
            <a:endParaRPr lang="es-AR"/>
          </a:p>
        </p:txBody>
      </p:sp>
      <p:sp>
        <p:nvSpPr>
          <p:cNvPr id="4" name="Marcador de número de diapositiva 3"/>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1261356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BEB07DE1-C2A3-4F6F-B12B-997EDF4208CD}" type="datetimeFigureOut">
              <a:rPr lang="es-AR" smtClean="0"/>
              <a:t>20/05/2026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2539959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BEB07DE1-C2A3-4F6F-B12B-997EDF4208CD}" type="datetimeFigureOut">
              <a:rPr lang="es-AR" smtClean="0"/>
              <a:t>20/05/2026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808146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BEB07DE1-C2A3-4F6F-B12B-997EDF4208CD}" type="datetimeFigureOut">
              <a:rPr lang="es-AR" smtClean="0"/>
              <a:t>20/05/2026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303060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BEB07DE1-C2A3-4F6F-B12B-997EDF4208CD}" type="datetimeFigureOut">
              <a:rPr lang="es-AR" smtClean="0"/>
              <a:t>20/05/2026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B5BA1AC8-C17F-4136-BD75-C860B7D53AAC}" type="slidenum">
              <a:rPr lang="es-AR" smtClean="0"/>
              <a:t>‹Nº›</a:t>
            </a:fld>
            <a:endParaRPr lang="es-AR"/>
          </a:p>
        </p:txBody>
      </p:sp>
    </p:spTree>
    <p:extLst>
      <p:ext uri="{BB962C8B-B14F-4D97-AF65-F5344CB8AC3E}">
        <p14:creationId xmlns:p14="http://schemas.microsoft.com/office/powerpoint/2010/main" val="681676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B07DE1-C2A3-4F6F-B12B-997EDF4208CD}" type="datetimeFigureOut">
              <a:rPr lang="es-AR" smtClean="0"/>
              <a:t>20/05/2026</a:t>
            </a:fld>
            <a:endParaRPr lang="es-A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BA1AC8-C17F-4136-BD75-C860B7D53AAC}" type="slidenum">
              <a:rPr lang="es-AR" smtClean="0"/>
              <a:t>‹Nº›</a:t>
            </a:fld>
            <a:endParaRPr lang="es-AR"/>
          </a:p>
        </p:txBody>
      </p:sp>
    </p:spTree>
    <p:extLst>
      <p:ext uri="{BB962C8B-B14F-4D97-AF65-F5344CB8AC3E}">
        <p14:creationId xmlns:p14="http://schemas.microsoft.com/office/powerpoint/2010/main" val="977249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3250132"/>
          </a:xfrm>
        </p:spPr>
        <p:txBody>
          <a:bodyPr/>
          <a:lstStyle/>
          <a:p>
            <a:r>
              <a:rPr lang="es-MX" dirty="0" smtClean="0"/>
              <a:t>Impacto de la IA en los estudiantes</a:t>
            </a:r>
            <a:endParaRPr lang="es-AR" dirty="0"/>
          </a:p>
        </p:txBody>
      </p:sp>
    </p:spTree>
    <p:extLst>
      <p:ext uri="{BB962C8B-B14F-4D97-AF65-F5344CB8AC3E}">
        <p14:creationId xmlns:p14="http://schemas.microsoft.com/office/powerpoint/2010/main" val="1820921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Contexto y audiencia</a:t>
            </a:r>
            <a:endParaRPr lang="es-AR" dirty="0"/>
          </a:p>
        </p:txBody>
      </p:sp>
      <p:sp>
        <p:nvSpPr>
          <p:cNvPr id="3" name="Marcador de contenido 2"/>
          <p:cNvSpPr>
            <a:spLocks noGrp="1"/>
          </p:cNvSpPr>
          <p:nvPr>
            <p:ph idx="1"/>
          </p:nvPr>
        </p:nvSpPr>
        <p:spPr/>
        <p:txBody>
          <a:bodyPr/>
          <a:lstStyle/>
          <a:p>
            <a:r>
              <a:rPr lang="es-MX" dirty="0" smtClean="0"/>
              <a:t>Cada vez mas se esta viendo la incursión de la IA en cada área de nuestra vida, y por lo tanto también en la educación, y en especifico en la educación superior. </a:t>
            </a:r>
          </a:p>
          <a:p>
            <a:r>
              <a:rPr lang="es-MX" dirty="0" smtClean="0"/>
              <a:t>Audiencia: Quien puede utilizar los resultados de este estudio son: </a:t>
            </a:r>
          </a:p>
          <a:p>
            <a:pPr lvl="1">
              <a:buFont typeface="Wingdings" panose="05000000000000000000" pitchFamily="2" charset="2"/>
              <a:buChar char="§"/>
            </a:pPr>
            <a:r>
              <a:rPr lang="es-MX" dirty="0" smtClean="0"/>
              <a:t>Los mismos estudiantes</a:t>
            </a:r>
          </a:p>
          <a:p>
            <a:pPr lvl="1">
              <a:buFont typeface="Wingdings" panose="05000000000000000000" pitchFamily="2" charset="2"/>
              <a:buChar char="§"/>
            </a:pPr>
            <a:r>
              <a:rPr lang="es-MX" dirty="0" smtClean="0"/>
              <a:t>Los profesores</a:t>
            </a:r>
            <a:r>
              <a:rPr lang="es-AR" dirty="0" smtClean="0"/>
              <a:t>, y establecimientos educativos</a:t>
            </a:r>
          </a:p>
          <a:p>
            <a:pPr lvl="1">
              <a:buFont typeface="Wingdings" panose="05000000000000000000" pitchFamily="2" charset="2"/>
              <a:buChar char="§"/>
            </a:pPr>
            <a:r>
              <a:rPr lang="es-MX" dirty="0" smtClean="0"/>
              <a:t>Las empresas que van a emplear a estos estudiantes en un futuro</a:t>
            </a:r>
          </a:p>
        </p:txBody>
      </p:sp>
    </p:spTree>
    <p:extLst>
      <p:ext uri="{BB962C8B-B14F-4D97-AF65-F5344CB8AC3E}">
        <p14:creationId xmlns:p14="http://schemas.microsoft.com/office/powerpoint/2010/main" val="1994700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Hipótesis / Preguntas</a:t>
            </a:r>
            <a:endParaRPr lang="es-AR" dirty="0"/>
          </a:p>
        </p:txBody>
      </p:sp>
      <p:sp>
        <p:nvSpPr>
          <p:cNvPr id="3" name="Marcador de contenido 2"/>
          <p:cNvSpPr>
            <a:spLocks noGrp="1"/>
          </p:cNvSpPr>
          <p:nvPr>
            <p:ph idx="1"/>
          </p:nvPr>
        </p:nvSpPr>
        <p:spPr/>
        <p:txBody>
          <a:bodyPr/>
          <a:lstStyle/>
          <a:p>
            <a:r>
              <a:rPr lang="es-MX" dirty="0" smtClean="0"/>
              <a:t>¿El uso de la IA, mejora las calificaciones, las empeora, o no cambia las mismas?</a:t>
            </a:r>
          </a:p>
          <a:p>
            <a:r>
              <a:rPr lang="es-MX" dirty="0"/>
              <a:t>¿</a:t>
            </a:r>
            <a:r>
              <a:rPr lang="es-MX" dirty="0" smtClean="0"/>
              <a:t>El uso de la IA, disminuye los niveles de ansiedad? Lo que se transforma en un cambio a largo plazo de la salud mental de los alumnos</a:t>
            </a:r>
          </a:p>
          <a:p>
            <a:r>
              <a:rPr lang="es-MX" dirty="0"/>
              <a:t>¿</a:t>
            </a:r>
            <a:r>
              <a:rPr lang="es-MX" dirty="0" smtClean="0"/>
              <a:t>El campo académico cambia la posibilidad de uso de la IA?</a:t>
            </a:r>
          </a:p>
          <a:p>
            <a:endParaRPr lang="es-MX" dirty="0" smtClean="0"/>
          </a:p>
          <a:p>
            <a:endParaRPr lang="es-AR" dirty="0"/>
          </a:p>
        </p:txBody>
      </p:sp>
    </p:spTree>
    <p:extLst>
      <p:ext uri="{BB962C8B-B14F-4D97-AF65-F5344CB8AC3E}">
        <p14:creationId xmlns:p14="http://schemas.microsoft.com/office/powerpoint/2010/main" val="3396144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Metadata</a:t>
            </a:r>
            <a:endParaRPr lang="es-AR" dirty="0"/>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2166455692"/>
              </p:ext>
            </p:extLst>
          </p:nvPr>
        </p:nvGraphicFramePr>
        <p:xfrm>
          <a:off x="838200" y="2111534"/>
          <a:ext cx="2781300" cy="3048000"/>
        </p:xfrm>
        <a:graphic>
          <a:graphicData uri="http://schemas.openxmlformats.org/drawingml/2006/table">
            <a:tbl>
              <a:tblPr>
                <a:tableStyleId>{5C22544A-7EE6-4342-B048-85BDC9FD1C3A}</a:tableStyleId>
              </a:tblPr>
              <a:tblGrid>
                <a:gridCol w="1963189"/>
                <a:gridCol w="818111"/>
              </a:tblGrid>
              <a:tr h="190500">
                <a:tc>
                  <a:txBody>
                    <a:bodyPr/>
                    <a:lstStyle/>
                    <a:p>
                      <a:pPr algn="l" fontAlgn="ctr"/>
                      <a:r>
                        <a:rPr lang="es-AR" sz="1100" u="none" strike="noStrike" dirty="0" err="1">
                          <a:effectLst/>
                        </a:rPr>
                        <a:t>ID_estudiante</a:t>
                      </a:r>
                      <a:endParaRPr lang="es-AR" sz="1100" b="0" i="0" u="none" strike="noStrike" dirty="0">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Enteros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Categoria_Principal</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dirty="0">
                          <a:effectLst/>
                        </a:rPr>
                        <a:t>Texto</a:t>
                      </a:r>
                      <a:endParaRPr lang="es-AR" sz="1100" b="0" i="0" u="none" strike="noStrike" dirty="0">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Año_de_estudio</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Texto</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dirty="0">
                          <a:effectLst/>
                        </a:rPr>
                        <a:t>Promedio_de_calificaciones</a:t>
                      </a:r>
                      <a:endParaRPr lang="es-AR" sz="1100" b="0" i="0" u="none" strike="noStrike" dirty="0">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Decimales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Horas_semanales_con _IA</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Decimales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Caso_de_uso_primario</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Texto</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Habilidad_prompt</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Texto</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diversidad_de_herramientas</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Enteros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Suscripcion</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Booleanos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Horas_de_estudio_sin_IA</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Decimales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Dependencia_de_IA</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Enteros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Politica_institucional</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Texto</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Anciedad</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Enteros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Puntuacion_post_semestre</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Decimales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Nivel_de_retencion</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a:effectLst/>
                        </a:rPr>
                        <a:t>Decimales</a:t>
                      </a:r>
                      <a:endParaRPr lang="es-AR" sz="1100" b="0" i="0" u="none" strike="noStrike">
                        <a:solidFill>
                          <a:srgbClr val="000000"/>
                        </a:solidFill>
                        <a:effectLst/>
                        <a:latin typeface="Calibri" panose="020F0502020204030204" pitchFamily="34" charset="0"/>
                      </a:endParaRPr>
                    </a:p>
                  </a:txBody>
                  <a:tcPr marL="9525" marR="9525" marT="9525" marB="0" anchor="b"/>
                </a:tc>
              </a:tr>
              <a:tr h="190500">
                <a:tc>
                  <a:txBody>
                    <a:bodyPr/>
                    <a:lstStyle/>
                    <a:p>
                      <a:pPr algn="l" fontAlgn="ctr"/>
                      <a:r>
                        <a:rPr lang="es-AR" sz="1100" u="none" strike="noStrike">
                          <a:effectLst/>
                        </a:rPr>
                        <a:t>Nivel_Burnout</a:t>
                      </a:r>
                      <a:endParaRPr lang="es-AR" sz="1100" b="0" i="0" u="none" strike="noStrike">
                        <a:solidFill>
                          <a:srgbClr val="1F1F1F"/>
                        </a:solidFill>
                        <a:effectLst/>
                        <a:latin typeface="Arial" panose="020B0604020202020204" pitchFamily="34" charset="0"/>
                      </a:endParaRPr>
                    </a:p>
                  </a:txBody>
                  <a:tcPr marL="9525" marR="9525" marT="9525" marB="0" anchor="ctr"/>
                </a:tc>
                <a:tc>
                  <a:txBody>
                    <a:bodyPr/>
                    <a:lstStyle/>
                    <a:p>
                      <a:pPr algn="l" fontAlgn="b"/>
                      <a:r>
                        <a:rPr lang="es-AR" sz="1100" u="none" strike="noStrike" dirty="0">
                          <a:effectLst/>
                        </a:rPr>
                        <a:t>Texto</a:t>
                      </a:r>
                      <a:endParaRPr lang="es-AR" sz="1100" b="0" i="0" u="none" strike="noStrike" dirty="0">
                        <a:solidFill>
                          <a:srgbClr val="000000"/>
                        </a:solidFill>
                        <a:effectLst/>
                        <a:latin typeface="Calibri" panose="020F0502020204030204" pitchFamily="34" charset="0"/>
                      </a:endParaRPr>
                    </a:p>
                  </a:txBody>
                  <a:tcPr marL="9525" marR="9525" marT="9525" marB="0" anchor="b"/>
                </a:tc>
              </a:tr>
            </a:tbl>
          </a:graphicData>
        </a:graphic>
      </p:graphicFrame>
      <p:sp>
        <p:nvSpPr>
          <p:cNvPr id="6" name="CuadroTexto 5"/>
          <p:cNvSpPr txBox="1"/>
          <p:nvPr/>
        </p:nvSpPr>
        <p:spPr>
          <a:xfrm>
            <a:off x="763386" y="1506022"/>
            <a:ext cx="2697277" cy="369332"/>
          </a:xfrm>
          <a:prstGeom prst="rect">
            <a:avLst/>
          </a:prstGeom>
          <a:noFill/>
        </p:spPr>
        <p:txBody>
          <a:bodyPr wrap="none" rtlCol="0">
            <a:spAutoFit/>
          </a:bodyPr>
          <a:lstStyle/>
          <a:p>
            <a:r>
              <a:rPr lang="es-MX" dirty="0" smtClean="0"/>
              <a:t>Tipos de datos del </a:t>
            </a:r>
            <a:r>
              <a:rPr lang="es-MX" dirty="0" err="1" smtClean="0"/>
              <a:t>dataset</a:t>
            </a:r>
            <a:r>
              <a:rPr lang="es-MX" dirty="0" smtClean="0"/>
              <a:t>:</a:t>
            </a:r>
            <a:endParaRPr lang="es-AR" dirty="0"/>
          </a:p>
        </p:txBody>
      </p:sp>
    </p:spTree>
    <p:extLst>
      <p:ext uri="{BB962C8B-B14F-4D97-AF65-F5344CB8AC3E}">
        <p14:creationId xmlns:p14="http://schemas.microsoft.com/office/powerpoint/2010/main" val="2880911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Análisis Exploratorio</a:t>
            </a:r>
            <a:endParaRPr lang="es-AR" dirty="0"/>
          </a:p>
        </p:txBody>
      </p:sp>
      <p:pic>
        <p:nvPicPr>
          <p:cNvPr id="4" name="Marcador de contenido 3"/>
          <p:cNvPicPr>
            <a:picLocks noGrp="1" noChangeAspect="1"/>
          </p:cNvPicPr>
          <p:nvPr>
            <p:ph idx="1"/>
          </p:nvPr>
        </p:nvPicPr>
        <p:blipFill>
          <a:blip r:embed="rId2"/>
          <a:stretch>
            <a:fillRect/>
          </a:stretch>
        </p:blipFill>
        <p:spPr>
          <a:xfrm>
            <a:off x="679544" y="1759122"/>
            <a:ext cx="5348526" cy="3494521"/>
          </a:xfrm>
          <a:prstGeom prst="rect">
            <a:avLst/>
          </a:prstGeom>
        </p:spPr>
      </p:pic>
      <p:sp>
        <p:nvSpPr>
          <p:cNvPr id="6" name="CuadroTexto 5"/>
          <p:cNvSpPr txBox="1"/>
          <p:nvPr/>
        </p:nvSpPr>
        <p:spPr>
          <a:xfrm>
            <a:off x="6029414" y="2068286"/>
            <a:ext cx="5325729" cy="923330"/>
          </a:xfrm>
          <a:prstGeom prst="rect">
            <a:avLst/>
          </a:prstGeom>
          <a:noFill/>
        </p:spPr>
        <p:txBody>
          <a:bodyPr wrap="square" rtlCol="0">
            <a:spAutoFit/>
          </a:bodyPr>
          <a:lstStyle/>
          <a:p>
            <a:r>
              <a:rPr lang="es-MX" b="1" dirty="0" smtClean="0"/>
              <a:t>¿El uso de la IA, mejora las calificaciones, las empeora, o no cambia las mismas?</a:t>
            </a:r>
          </a:p>
          <a:p>
            <a:endParaRPr lang="es-AR" dirty="0"/>
          </a:p>
        </p:txBody>
      </p:sp>
      <p:sp>
        <p:nvSpPr>
          <p:cNvPr id="7" name="CuadroTexto 6"/>
          <p:cNvSpPr txBox="1"/>
          <p:nvPr/>
        </p:nvSpPr>
        <p:spPr>
          <a:xfrm>
            <a:off x="6143104" y="3025833"/>
            <a:ext cx="5311833" cy="1200329"/>
          </a:xfrm>
          <a:prstGeom prst="rect">
            <a:avLst/>
          </a:prstGeom>
          <a:noFill/>
        </p:spPr>
        <p:txBody>
          <a:bodyPr wrap="square" rtlCol="0">
            <a:spAutoFit/>
          </a:bodyPr>
          <a:lstStyle/>
          <a:p>
            <a:pPr algn="just"/>
            <a:r>
              <a:rPr lang="es-MX" dirty="0" smtClean="0"/>
              <a:t>En este grafico podemos ver que no hay una influencia directa entre las horas semanales del uso de la IA y los cambios en las calificaciones. Es decir que el mayor uso de la IA no garantiza mejores calificaciones.</a:t>
            </a:r>
            <a:endParaRPr lang="es-AR" dirty="0"/>
          </a:p>
        </p:txBody>
      </p:sp>
    </p:spTree>
    <p:extLst>
      <p:ext uri="{BB962C8B-B14F-4D97-AF65-F5344CB8AC3E}">
        <p14:creationId xmlns:p14="http://schemas.microsoft.com/office/powerpoint/2010/main" val="175042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6589512" y="1986741"/>
            <a:ext cx="5079076" cy="923330"/>
          </a:xfrm>
          <a:prstGeom prst="rect">
            <a:avLst/>
          </a:prstGeom>
          <a:noFill/>
        </p:spPr>
        <p:txBody>
          <a:bodyPr wrap="square" rtlCol="0">
            <a:spAutoFit/>
          </a:bodyPr>
          <a:lstStyle/>
          <a:p>
            <a:r>
              <a:rPr lang="es-MX" b="1" dirty="0" smtClean="0"/>
              <a:t>¿El uso de la IA, disminuye los niveles de ansiedad? Lo que se transforma en un cambio a largo plazo de la salud mental de los alumnos</a:t>
            </a:r>
            <a:endParaRPr lang="es-MX" b="1" dirty="0"/>
          </a:p>
        </p:txBody>
      </p:sp>
      <p:sp>
        <p:nvSpPr>
          <p:cNvPr id="7" name="CuadroTexto 6"/>
          <p:cNvSpPr txBox="1"/>
          <p:nvPr/>
        </p:nvSpPr>
        <p:spPr>
          <a:xfrm>
            <a:off x="6589512" y="3890356"/>
            <a:ext cx="4950555" cy="1200329"/>
          </a:xfrm>
          <a:prstGeom prst="rect">
            <a:avLst/>
          </a:prstGeom>
          <a:noFill/>
        </p:spPr>
        <p:txBody>
          <a:bodyPr wrap="square" rtlCol="0">
            <a:spAutoFit/>
          </a:bodyPr>
          <a:lstStyle/>
          <a:p>
            <a:pPr algn="just"/>
            <a:r>
              <a:rPr lang="es-MX" dirty="0" smtClean="0"/>
              <a:t>En este grafico nos podemos dar cuenta, que contrariamente a lo que comúnmente se piensa, el mayor uso de la IA no disminuye la ansiedad sino que la aumenta.</a:t>
            </a:r>
            <a:endParaRPr lang="es-AR" dirty="0"/>
          </a:p>
        </p:txBody>
      </p:sp>
      <p:pic>
        <p:nvPicPr>
          <p:cNvPr id="8" name="Imagen 7"/>
          <p:cNvPicPr>
            <a:picLocks noChangeAspect="1"/>
          </p:cNvPicPr>
          <p:nvPr/>
        </p:nvPicPr>
        <p:blipFill>
          <a:blip r:embed="rId2"/>
          <a:stretch>
            <a:fillRect/>
          </a:stretch>
        </p:blipFill>
        <p:spPr>
          <a:xfrm>
            <a:off x="450600" y="1414580"/>
            <a:ext cx="6138912" cy="4221449"/>
          </a:xfrm>
          <a:prstGeom prst="rect">
            <a:avLst/>
          </a:prstGeom>
        </p:spPr>
      </p:pic>
    </p:spTree>
    <p:extLst>
      <p:ext uri="{BB962C8B-B14F-4D97-AF65-F5344CB8AC3E}">
        <p14:creationId xmlns:p14="http://schemas.microsoft.com/office/powerpoint/2010/main" val="219444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548639" y="1286177"/>
            <a:ext cx="6610007" cy="3767961"/>
          </a:xfrm>
          <a:prstGeom prst="rect">
            <a:avLst/>
          </a:prstGeom>
        </p:spPr>
      </p:pic>
      <p:sp>
        <p:nvSpPr>
          <p:cNvPr id="5" name="CuadroTexto 4"/>
          <p:cNvSpPr txBox="1"/>
          <p:nvPr/>
        </p:nvSpPr>
        <p:spPr>
          <a:xfrm>
            <a:off x="7523019" y="1446415"/>
            <a:ext cx="4024438" cy="923330"/>
          </a:xfrm>
          <a:prstGeom prst="rect">
            <a:avLst/>
          </a:prstGeom>
          <a:noFill/>
        </p:spPr>
        <p:txBody>
          <a:bodyPr wrap="square" rtlCol="0">
            <a:spAutoFit/>
          </a:bodyPr>
          <a:lstStyle/>
          <a:p>
            <a:r>
              <a:rPr lang="es-MX" b="1" dirty="0" smtClean="0"/>
              <a:t>¿El campo académico cambia la posibilidad de uso de la IA?</a:t>
            </a:r>
          </a:p>
          <a:p>
            <a:endParaRPr lang="es-AR" dirty="0"/>
          </a:p>
        </p:txBody>
      </p:sp>
      <p:sp>
        <p:nvSpPr>
          <p:cNvPr id="6" name="Rectángulo 5"/>
          <p:cNvSpPr/>
          <p:nvPr/>
        </p:nvSpPr>
        <p:spPr>
          <a:xfrm>
            <a:off x="7523019" y="2369745"/>
            <a:ext cx="3686848" cy="2308324"/>
          </a:xfrm>
          <a:prstGeom prst="rect">
            <a:avLst/>
          </a:prstGeom>
        </p:spPr>
        <p:txBody>
          <a:bodyPr wrap="square">
            <a:spAutoFit/>
          </a:bodyPr>
          <a:lstStyle/>
          <a:p>
            <a:pPr algn="just"/>
            <a:r>
              <a:rPr lang="es-MX" dirty="0" smtClean="0"/>
              <a:t>En este grafico podemos notar claramente que el campo académico influye en el uso de la IA. Los estudiantes de áreas técnicas (STEM) y de negocios son quienes más la incorporan en su rutina semanal, mientras que los de humanidades son los que menos la usan.</a:t>
            </a:r>
            <a:endParaRPr lang="es-MX" dirty="0"/>
          </a:p>
        </p:txBody>
      </p:sp>
    </p:spTree>
    <p:extLst>
      <p:ext uri="{BB962C8B-B14F-4D97-AF65-F5344CB8AC3E}">
        <p14:creationId xmlns:p14="http://schemas.microsoft.com/office/powerpoint/2010/main" val="3228711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Insights</a:t>
            </a:r>
            <a:endParaRPr lang="es-AR" dirty="0"/>
          </a:p>
        </p:txBody>
      </p:sp>
      <p:sp>
        <p:nvSpPr>
          <p:cNvPr id="3" name="Marcador de contenido 2"/>
          <p:cNvSpPr>
            <a:spLocks noGrp="1"/>
          </p:cNvSpPr>
          <p:nvPr>
            <p:ph idx="1"/>
          </p:nvPr>
        </p:nvSpPr>
        <p:spPr/>
        <p:txBody>
          <a:bodyPr/>
          <a:lstStyle/>
          <a:p>
            <a:pPr algn="just"/>
            <a:r>
              <a:rPr lang="es-MX" dirty="0" smtClean="0"/>
              <a:t>El uso de la IA no es una garantía del aumento de las calificaciones, pero tampoco atenta contra el rendimiento académico. La IA tiene un impacto neutro en las calificaciones. Aunque en los extremos puede variar mucho, ya que puede volver impredecible el uso de la misma.</a:t>
            </a:r>
          </a:p>
          <a:p>
            <a:pPr algn="just"/>
            <a:r>
              <a:rPr lang="es-MX" dirty="0" smtClean="0"/>
              <a:t>La IA se esta usando como salvavidas, esto lo notamos porque con mas ansiedad mas uso de la misma.</a:t>
            </a:r>
          </a:p>
          <a:p>
            <a:pPr algn="just"/>
            <a:r>
              <a:rPr lang="es-MX" dirty="0" smtClean="0"/>
              <a:t>Existe una tendencia de adopción muy marcada. En las áreas técnicas se utiliza mucho mas que en humanidades por ejemplo, lo que denota que no es una simple moda, sino que su uso es mas por una necesidad practica.</a:t>
            </a:r>
            <a:endParaRPr lang="es-AR" dirty="0"/>
          </a:p>
        </p:txBody>
      </p:sp>
    </p:spTree>
    <p:extLst>
      <p:ext uri="{BB962C8B-B14F-4D97-AF65-F5344CB8AC3E}">
        <p14:creationId xmlns:p14="http://schemas.microsoft.com/office/powerpoint/2010/main" val="4118505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Recomendaciones</a:t>
            </a:r>
            <a:endParaRPr lang="es-AR" dirty="0"/>
          </a:p>
        </p:txBody>
      </p:sp>
      <p:sp>
        <p:nvSpPr>
          <p:cNvPr id="3" name="Marcador de contenido 2"/>
          <p:cNvSpPr>
            <a:spLocks noGrp="1"/>
          </p:cNvSpPr>
          <p:nvPr>
            <p:ph idx="1"/>
          </p:nvPr>
        </p:nvSpPr>
        <p:spPr/>
        <p:txBody>
          <a:bodyPr>
            <a:normAutofit fontScale="92500" lnSpcReduction="20000"/>
          </a:bodyPr>
          <a:lstStyle/>
          <a:p>
            <a:pPr algn="just"/>
            <a:r>
              <a:rPr lang="es-MX" dirty="0" smtClean="0"/>
              <a:t>Tomando en cuenta la primer pregunta, tenemos que tener en cuenta que si bien el uso de la IA no cambia radicalmente las calificaciones, si lo hace el abuso de la misma. Por lo que tenemos que tener en cuenta esto y regular su utilización.</a:t>
            </a:r>
          </a:p>
          <a:p>
            <a:pPr algn="just"/>
            <a:r>
              <a:rPr lang="es-MX" dirty="0" smtClean="0"/>
              <a:t>En cuanto a la segunda pregunta, podemos ver que la misma se usa como salvavidas, por lo que se propone tener mas en cuenta estos casos de ansiedad en las universidades y poder brindar algún apoyo, ya sea psicológico, como también en cuanto a las materias.</a:t>
            </a:r>
          </a:p>
          <a:p>
            <a:pPr algn="just"/>
            <a:r>
              <a:rPr lang="es-MX" dirty="0" smtClean="0"/>
              <a:t>Por ultimo, vemos que la utilización de la IA es diferenciada por campo. En este caso, hay que tener una estrategia diferenciada según el campo. En aquellos en los que la IA es de uso diario o de apoyo, determinar pautas de uso e incorporación a la </a:t>
            </a:r>
            <a:r>
              <a:rPr lang="es-MX" dirty="0" err="1" smtClean="0"/>
              <a:t>curricula</a:t>
            </a:r>
            <a:r>
              <a:rPr lang="es-MX" dirty="0" smtClean="0"/>
              <a:t>. En cambio, para aquellas áreas en la que no este tan incorporada, propongo idear estrategias de acercamiento a la misma y de incorporación a la cotidianeidad. </a:t>
            </a:r>
            <a:endParaRPr lang="es-AR" dirty="0"/>
          </a:p>
        </p:txBody>
      </p:sp>
    </p:spTree>
    <p:extLst>
      <p:ext uri="{BB962C8B-B14F-4D97-AF65-F5344CB8AC3E}">
        <p14:creationId xmlns:p14="http://schemas.microsoft.com/office/powerpoint/2010/main" val="1771386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b="1" dirty="0" smtClean="0"/>
              <a:t>Modelo </a:t>
            </a:r>
            <a:r>
              <a:rPr lang="es-AR" b="1" dirty="0"/>
              <a:t>de Machine </a:t>
            </a:r>
            <a:r>
              <a:rPr lang="es-AR" b="1" dirty="0" err="1"/>
              <a:t>Learning</a:t>
            </a:r>
            <a:endParaRPr lang="es-AR" b="1" dirty="0"/>
          </a:p>
        </p:txBody>
      </p:sp>
      <p:sp>
        <p:nvSpPr>
          <p:cNvPr id="3" name="Marcador de contenido 2"/>
          <p:cNvSpPr>
            <a:spLocks noGrp="1"/>
          </p:cNvSpPr>
          <p:nvPr>
            <p:ph idx="1"/>
          </p:nvPr>
        </p:nvSpPr>
        <p:spPr>
          <a:xfrm>
            <a:off x="838200" y="1825624"/>
            <a:ext cx="10515600" cy="2076843"/>
          </a:xfrm>
        </p:spPr>
        <p:txBody>
          <a:bodyPr>
            <a:normAutofit/>
          </a:bodyPr>
          <a:lstStyle/>
          <a:p>
            <a:pPr algn="just"/>
            <a:r>
              <a:rPr lang="es-MX" dirty="0" smtClean="0"/>
              <a:t>Problema a resolver: Teniendo en cuenta las variables presentes en el </a:t>
            </a:r>
            <a:r>
              <a:rPr lang="es-MX" dirty="0" err="1" smtClean="0"/>
              <a:t>dataset</a:t>
            </a:r>
            <a:r>
              <a:rPr lang="es-MX" dirty="0" smtClean="0"/>
              <a:t>, quiero predecir la posibilidad de que el alumno se suscriba a una IA, para poder ofrecerla. Por lo cual, si el modelo predice que sus calificaciones aumentarán con el uso de la IA, tengo que demostrarle que su perfil es ideal para una suscripción.</a:t>
            </a:r>
          </a:p>
          <a:p>
            <a:pPr marL="0" indent="0">
              <a:buNone/>
            </a:pPr>
            <a:endParaRPr lang="es-AR" dirty="0"/>
          </a:p>
        </p:txBody>
      </p:sp>
      <p:sp>
        <p:nvSpPr>
          <p:cNvPr id="4" name="CuadroTexto 3"/>
          <p:cNvSpPr txBox="1"/>
          <p:nvPr/>
        </p:nvSpPr>
        <p:spPr>
          <a:xfrm>
            <a:off x="1035396" y="3902468"/>
            <a:ext cx="10318404" cy="1815882"/>
          </a:xfrm>
          <a:prstGeom prst="rect">
            <a:avLst/>
          </a:prstGeom>
          <a:noFill/>
        </p:spPr>
        <p:txBody>
          <a:bodyPr wrap="square" rtlCol="0">
            <a:spAutoFit/>
          </a:bodyPr>
          <a:lstStyle/>
          <a:p>
            <a:pPr algn="just"/>
            <a:r>
              <a:rPr lang="es-MX" sz="2800" dirty="0"/>
              <a:t>Para resolver dicho problema voy a usar un modelo de clasificación, teniendo en </a:t>
            </a:r>
            <a:r>
              <a:rPr lang="es-MX" sz="2800" dirty="0" smtClean="0"/>
              <a:t>cuenta las siguientes variables: </a:t>
            </a:r>
            <a:r>
              <a:rPr lang="es-AR" altLang="es-AR" sz="2800" dirty="0" err="1" smtClean="0"/>
              <a:t>Categoria_Principal</a:t>
            </a:r>
            <a:r>
              <a:rPr lang="es-AR" altLang="es-AR" sz="2800" dirty="0"/>
              <a:t>, </a:t>
            </a:r>
            <a:r>
              <a:rPr lang="es-AR" altLang="es-AR" sz="2800" dirty="0" err="1"/>
              <a:t>Año_de_estudio</a:t>
            </a:r>
            <a:r>
              <a:rPr lang="es-AR" altLang="es-AR" sz="2800" dirty="0"/>
              <a:t>, </a:t>
            </a:r>
            <a:r>
              <a:rPr lang="es-AR" altLang="es-AR" sz="2800" dirty="0" err="1" smtClean="0"/>
              <a:t>Horas_semanales_con_IA</a:t>
            </a:r>
            <a:r>
              <a:rPr lang="es-AR" altLang="es-AR" sz="2800" dirty="0"/>
              <a:t>, </a:t>
            </a:r>
            <a:r>
              <a:rPr lang="es-AR" altLang="es-AR" sz="2800" dirty="0" err="1"/>
              <a:t>Habilidad_prompt</a:t>
            </a:r>
            <a:r>
              <a:rPr lang="es-AR" altLang="es-AR" sz="2800" dirty="0"/>
              <a:t> y </a:t>
            </a:r>
            <a:r>
              <a:rPr lang="es-AR" altLang="es-AR" sz="2800" dirty="0" err="1" smtClean="0"/>
              <a:t>diversidad_de_herramientas</a:t>
            </a:r>
            <a:r>
              <a:rPr lang="es-AR" altLang="es-AR" sz="2800" dirty="0" smtClean="0"/>
              <a:t>.</a:t>
            </a:r>
            <a:endParaRPr lang="es-AR" altLang="es-AR" sz="2800" dirty="0"/>
          </a:p>
        </p:txBody>
      </p:sp>
    </p:spTree>
    <p:extLst>
      <p:ext uri="{BB962C8B-B14F-4D97-AF65-F5344CB8AC3E}">
        <p14:creationId xmlns:p14="http://schemas.microsoft.com/office/powerpoint/2010/main" val="41242164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1535</TotalTime>
  <Words>771</Words>
  <Application>Microsoft Office PowerPoint</Application>
  <PresentationFormat>Panorámica</PresentationFormat>
  <Paragraphs>63</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Wingdings</vt:lpstr>
      <vt:lpstr>Tema de Office</vt:lpstr>
      <vt:lpstr>Impacto de la IA en los estudiantes</vt:lpstr>
      <vt:lpstr>Contexto y audiencia</vt:lpstr>
      <vt:lpstr>Hipótesis / Preguntas</vt:lpstr>
      <vt:lpstr>Metadata</vt:lpstr>
      <vt:lpstr>Análisis Exploratorio</vt:lpstr>
      <vt:lpstr>Presentación de PowerPoint</vt:lpstr>
      <vt:lpstr>Presentación de PowerPoint</vt:lpstr>
      <vt:lpstr>Insights</vt:lpstr>
      <vt:lpstr>Recomendaciones</vt:lpstr>
      <vt:lpstr>Modelo de Machine Learning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Impacto de la IA en los estudiantes</dc:title>
  <dc:creator>usuario</dc:creator>
  <cp:lastModifiedBy>usuario</cp:lastModifiedBy>
  <cp:revision>15</cp:revision>
  <dcterms:created xsi:type="dcterms:W3CDTF">2026-05-20T03:24:42Z</dcterms:created>
  <dcterms:modified xsi:type="dcterms:W3CDTF">2026-05-21T04:59:55Z</dcterms:modified>
</cp:coreProperties>
</file>